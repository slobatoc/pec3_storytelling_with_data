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84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58" r:id="rId4"/>
    <p:sldId id="267" r:id="rId5"/>
    <p:sldId id="268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9A1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2483" autoAdjust="0"/>
  </p:normalViewPr>
  <p:slideViewPr>
    <p:cSldViewPr snapToGrid="0">
      <p:cViewPr varScale="1">
        <p:scale>
          <a:sx n="159" d="100"/>
          <a:sy n="159" d="100"/>
        </p:scale>
        <p:origin x="30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4107CD6-6944-9583-69E0-70D7E60EB5B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E139A62-6D20-3A3F-8EE4-C52FE378704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2F9495-49D7-4406-8233-32940BB36464}" type="datetimeFigureOut">
              <a:rPr lang="es-ES" smtClean="0"/>
              <a:t>15/05/2026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F8A6576-825A-98E5-7B6B-669CD5C8CD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5A4BCF9-7DA1-410A-71B6-8DBE3C9D9C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0775B6-CB13-4A8F-A5E6-D347F004A8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238136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056A84-EE98-4C51-8BB1-6BE8ABC68E7B}" type="datetimeFigureOut">
              <a:rPr lang="es-ES" smtClean="0"/>
              <a:t>15/05/2026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25C22-5AFD-470E-A113-FCF665DB12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2725871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3F2B207-944C-492E-98F5-987CDB8A4CAF}" type="datetime1">
              <a:rPr lang="en-US" smtClean="0"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‹Nº›</a:t>
            </a:fld>
            <a:endParaRPr lang="en-US" dirty="0"/>
          </a:p>
        </p:txBody>
      </p:sp>
      <p:grpSp>
        <p:nvGrpSpPr>
          <p:cNvPr id="9" name="Group 8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119207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63A44-F216-4B30-BAC7-D21C1A5C32EE}" type="datetime1">
              <a:rPr lang="en-US" smtClean="0"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5794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3F51A66-61B9-4BCB-9C8C-65C543281A18}" type="datetime1">
              <a:rPr lang="en-US" smtClean="0"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8887544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699AE-868F-4814-B297-D94EDF5610C7}" type="datetime1">
              <a:rPr lang="en-US" smtClean="0"/>
              <a:t>5/15/2026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117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7BC4F-9D4B-4F0D-9C0C-A50660322760}" type="datetime1">
              <a:rPr lang="en-US" smtClean="0"/>
              <a:t>5/15/2026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7882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56B49-C931-4C5A-80E9-98B5A651A162}" type="datetime1">
              <a:rPr lang="en-US" smtClean="0"/>
              <a:t>5/15/2026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1112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83B00-8502-4DBD-A739-F9E096B6123D}" type="datetime1">
              <a:rPr lang="en-US" smtClean="0"/>
              <a:t>5/15/2026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91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2342013-FBE7-4A12-89EB-B30B157B11C3}" type="datetime1">
              <a:rPr lang="en-US" smtClean="0"/>
              <a:t>5/15/2026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55339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B360998-0DE1-4A3D-B37B-BBED1B08B3BC}" type="datetime1">
              <a:rPr lang="en-US" smtClean="0"/>
              <a:t>5/15/2026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1150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856DB-1768-41DD-AF46-5DCF88BFBC7F}" type="datetime1">
              <a:rPr lang="en-US" smtClean="0"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5560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062C8-80F6-410F-9B4F-BB5904B42A61}" type="datetime1">
              <a:rPr lang="en-US" smtClean="0"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691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0E1028B6-11AD-4693-BDE0-507265AFC3D3}" type="datetime1">
              <a:rPr lang="en-US" smtClean="0"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78311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9AED31-0B05-429F-F79C-F35FA8E418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6" y="2379887"/>
            <a:ext cx="8361229" cy="2098226"/>
          </a:xfrm>
        </p:spPr>
        <p:txBody>
          <a:bodyPr/>
          <a:lstStyle/>
          <a:p>
            <a:r>
              <a:rPr lang="es-ES" sz="6600" dirty="0"/>
              <a:t>Visualización de datos</a:t>
            </a:r>
            <a:br>
              <a:rPr lang="es-ES" sz="6600" dirty="0"/>
            </a:br>
            <a:r>
              <a:rPr lang="es-ES" sz="4800" dirty="0"/>
              <a:t>Pec 3 – NARRACIÓN DE HISTORIAS CON DATOS</a:t>
            </a:r>
            <a:endParaRPr lang="es-ES" sz="66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513DCB4-EA03-F63F-2361-B7758C19F4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9905" y="4615040"/>
            <a:ext cx="6831673" cy="1086237"/>
          </a:xfrm>
        </p:spPr>
        <p:txBody>
          <a:bodyPr/>
          <a:lstStyle/>
          <a:p>
            <a:r>
              <a:rPr lang="es-E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Sara Lobato Cobo</a:t>
            </a:r>
          </a:p>
          <a:p>
            <a:r>
              <a:rPr lang="es-E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Máster en Ciencia de datos</a:t>
            </a:r>
          </a:p>
        </p:txBody>
      </p:sp>
    </p:spTree>
    <p:extLst>
      <p:ext uri="{BB962C8B-B14F-4D97-AF65-F5344CB8AC3E}">
        <p14:creationId xmlns:p14="http://schemas.microsoft.com/office/powerpoint/2010/main" val="450186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26E47B-498E-A2F2-25CF-6B20BD356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850" y="361950"/>
            <a:ext cx="9601200" cy="774700"/>
          </a:xfrm>
        </p:spPr>
        <p:txBody>
          <a:bodyPr/>
          <a:lstStyle/>
          <a:p>
            <a:r>
              <a:rPr lang="es-ES" dirty="0"/>
              <a:t>Descripción del conjunto de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52C360-1942-7E17-7044-274A6846F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8849" y="1349821"/>
            <a:ext cx="10525227" cy="5146229"/>
          </a:xfrm>
        </p:spPr>
        <p:txBody>
          <a:bodyPr>
            <a:normAutofit fontScale="92500" lnSpcReduction="10000"/>
          </a:bodyPr>
          <a:lstStyle/>
          <a:p>
            <a:r>
              <a:rPr lang="es-ES" dirty="0"/>
              <a:t>Análisis exploratorio de </a:t>
            </a:r>
            <a:r>
              <a:rPr lang="es-ES" dirty="0" err="1"/>
              <a:t>Julià</a:t>
            </a:r>
            <a:r>
              <a:rPr lang="es-ES" dirty="0"/>
              <a:t> </a:t>
            </a:r>
            <a:r>
              <a:rPr lang="es-ES" dirty="0" err="1"/>
              <a:t>Minguillón</a:t>
            </a:r>
            <a:r>
              <a:rPr lang="es-ES" dirty="0"/>
              <a:t>, abril de 2025, </a:t>
            </a:r>
            <a:r>
              <a:rPr lang="es-ES" i="1" dirty="0"/>
              <a:t>hotel_bookings.csv</a:t>
            </a:r>
            <a:endParaRPr lang="es-ES" dirty="0"/>
          </a:p>
          <a:p>
            <a:r>
              <a:rPr lang="es-ES" dirty="0"/>
              <a:t>119.390 reservas</a:t>
            </a:r>
          </a:p>
          <a:p>
            <a:r>
              <a:rPr lang="es-ES" dirty="0"/>
              <a:t>Recogidas entre julio de 2015 y agosto de 2017</a:t>
            </a:r>
          </a:p>
          <a:p>
            <a:r>
              <a:rPr lang="es-ES" dirty="0"/>
              <a:t>2 hoteles de Portugal: City Hotel en Lisboa y Resort Hotel en el Algarve.</a:t>
            </a:r>
          </a:p>
          <a:p>
            <a:r>
              <a:rPr lang="es-ES" dirty="0"/>
              <a:t>Las 32 variables incluyen información sobre:</a:t>
            </a:r>
          </a:p>
          <a:p>
            <a:pPr lvl="1"/>
            <a:r>
              <a:rPr lang="es-ES" dirty="0"/>
              <a:t>Tipo de hotel</a:t>
            </a:r>
          </a:p>
          <a:p>
            <a:pPr lvl="1"/>
            <a:r>
              <a:rPr lang="es-ES" dirty="0"/>
              <a:t>Reserva cancelada / no cancelada</a:t>
            </a:r>
          </a:p>
          <a:p>
            <a:pPr lvl="1"/>
            <a:r>
              <a:rPr lang="es-ES" dirty="0"/>
              <a:t>Antelación (</a:t>
            </a:r>
            <a:r>
              <a:rPr lang="es-ES" i="1" dirty="0" err="1"/>
              <a:t>lead_time</a:t>
            </a:r>
            <a:r>
              <a:rPr lang="es-ES" dirty="0"/>
              <a:t>)</a:t>
            </a:r>
          </a:p>
          <a:p>
            <a:pPr lvl="1"/>
            <a:r>
              <a:rPr lang="es-ES" dirty="0"/>
              <a:t>Precio medio por noche (</a:t>
            </a:r>
            <a:r>
              <a:rPr lang="es-ES" i="1" dirty="0"/>
              <a:t>ADR</a:t>
            </a:r>
            <a:r>
              <a:rPr lang="es-ES" dirty="0"/>
              <a:t>)</a:t>
            </a:r>
          </a:p>
          <a:p>
            <a:pPr lvl="1"/>
            <a:r>
              <a:rPr lang="es-ES" dirty="0"/>
              <a:t>País de origen</a:t>
            </a:r>
          </a:p>
          <a:p>
            <a:pPr lvl="1"/>
            <a:r>
              <a:rPr lang="es-ES" dirty="0"/>
              <a:t>Canal de reserva</a:t>
            </a:r>
          </a:p>
          <a:p>
            <a:pPr lvl="1"/>
            <a:r>
              <a:rPr lang="es-ES" dirty="0"/>
              <a:t>Tipo de depósito</a:t>
            </a:r>
          </a:p>
          <a:p>
            <a:pPr lvl="1"/>
            <a:r>
              <a:rPr lang="es-ES" dirty="0"/>
              <a:t>Duración de la estancia</a:t>
            </a:r>
          </a:p>
          <a:p>
            <a:pPr lvl="1"/>
            <a:r>
              <a:rPr lang="es-ES" dirty="0"/>
              <a:t>Nº adultos, niños y bebés.</a:t>
            </a:r>
            <a:endParaRPr lang="es-ES" sz="190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9C3E3ED-DAF1-34B3-F9D2-F40C3992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0595" y="6446000"/>
            <a:ext cx="1596292" cy="404614"/>
          </a:xfrm>
        </p:spPr>
        <p:txBody>
          <a:bodyPr/>
          <a:lstStyle/>
          <a:p>
            <a:fld id="{69E57DC2-970A-4B3E-BB1C-7A09969E49D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961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CD733B-E494-8D49-FA02-BC41A09B2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4B6651-BE1C-C0BC-D457-B15B5EB13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850" y="361950"/>
            <a:ext cx="9601200" cy="774700"/>
          </a:xfrm>
        </p:spPr>
        <p:txBody>
          <a:bodyPr/>
          <a:lstStyle/>
          <a:p>
            <a:r>
              <a:rPr lang="es-ES" dirty="0"/>
              <a:t>Análisis exploratorio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A3DDE3C1-174B-5571-0315-7761FD8C9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0595" y="6446000"/>
            <a:ext cx="1596292" cy="404614"/>
          </a:xfrm>
        </p:spPr>
        <p:txBody>
          <a:bodyPr/>
          <a:lstStyle/>
          <a:p>
            <a:fld id="{69E57DC2-970A-4B3E-BB1C-7A09969E49DF}" type="slidenum">
              <a:rPr lang="en-US" smtClean="0"/>
              <a:t>3</a:t>
            </a:fld>
            <a:endParaRPr lang="en-U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0EF7036-E1AD-F588-B81E-0B5D863D29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31" t="7500"/>
          <a:stretch>
            <a:fillRect/>
          </a:stretch>
        </p:blipFill>
        <p:spPr>
          <a:xfrm>
            <a:off x="7544036" y="448652"/>
            <a:ext cx="3949873" cy="233010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D3A1A7D2-CBB5-2239-1057-3F101B638A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4036" y="2569396"/>
            <a:ext cx="3949872" cy="658311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</p:pic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1842DD55-9900-92A1-6998-3344E9154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8849" y="1349821"/>
            <a:ext cx="5048661" cy="5146229"/>
          </a:xfrm>
        </p:spPr>
        <p:txBody>
          <a:bodyPr>
            <a:normAutofit/>
          </a:bodyPr>
          <a:lstStyle/>
          <a:p>
            <a:r>
              <a:rPr lang="es-ES" dirty="0"/>
              <a:t>Análisis de outliers en la variable nº de adultos, niños y bebés por reserva</a:t>
            </a:r>
          </a:p>
          <a:p>
            <a:r>
              <a:rPr lang="es-ES" dirty="0"/>
              <a:t>Problemas con histograma para outliers</a:t>
            </a:r>
          </a:p>
          <a:p>
            <a:r>
              <a:rPr lang="es-ES" sz="1900" dirty="0"/>
              <a:t>Gráfico de valores ordenados</a:t>
            </a:r>
          </a:p>
          <a:p>
            <a:r>
              <a:rPr lang="es-ES" sz="1900" dirty="0"/>
              <a:t>Tabla de frecuencias</a:t>
            </a:r>
          </a:p>
          <a:p>
            <a:endParaRPr lang="es-ES" sz="1900" dirty="0"/>
          </a:p>
          <a:p>
            <a:endParaRPr lang="es-ES" sz="190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A17ACEE6-F545-46D3-678A-8F5BCB515E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0627" y="3803068"/>
            <a:ext cx="3949873" cy="2439451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CFE86BC1-DE24-53E7-17C1-257EB967A9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77" r="31650" b="1"/>
          <a:stretch>
            <a:fillRect/>
          </a:stretch>
        </p:blipFill>
        <p:spPr>
          <a:xfrm>
            <a:off x="1380627" y="6041386"/>
            <a:ext cx="3949873" cy="404614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18862C75-1897-A5E6-FE5E-9C96F3C2F8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4032" y="3803068"/>
            <a:ext cx="3949874" cy="2415477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6CC78349-D1A3-730F-7981-E198BF5306F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002" r="26805" b="1"/>
          <a:stretch>
            <a:fillRect/>
          </a:stretch>
        </p:blipFill>
        <p:spPr>
          <a:xfrm>
            <a:off x="7544032" y="6041386"/>
            <a:ext cx="3949872" cy="404614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20689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45EE60-1D24-5C08-45DB-89293459E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A514F1-A47B-DF06-DB5F-EC78C5056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850" y="361950"/>
            <a:ext cx="9601200" cy="774700"/>
          </a:xfrm>
        </p:spPr>
        <p:txBody>
          <a:bodyPr/>
          <a:lstStyle/>
          <a:p>
            <a:r>
              <a:rPr lang="es-ES" dirty="0"/>
              <a:t>Análisis exploratorio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D3241E-67D9-55C3-1B6B-47F6E6B92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0595" y="6446000"/>
            <a:ext cx="1596292" cy="404614"/>
          </a:xfrm>
        </p:spPr>
        <p:txBody>
          <a:bodyPr/>
          <a:lstStyle/>
          <a:p>
            <a:fld id="{69E57DC2-970A-4B3E-BB1C-7A09969E49DF}" type="slidenum">
              <a:rPr lang="en-US" smtClean="0"/>
              <a:t>4</a:t>
            </a:fld>
            <a:endParaRPr lang="en-US" dirty="0"/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BCC84654-DB5B-8C68-1E62-34B9107CD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8849" y="1349821"/>
            <a:ext cx="9471746" cy="5146229"/>
          </a:xfrm>
        </p:spPr>
        <p:txBody>
          <a:bodyPr>
            <a:normAutofit/>
          </a:bodyPr>
          <a:lstStyle/>
          <a:p>
            <a:r>
              <a:rPr lang="es-ES" dirty="0"/>
              <a:t>Análisis de outliers en la variable ADR (precio por noche)</a:t>
            </a:r>
          </a:p>
          <a:p>
            <a:r>
              <a:rPr lang="es-ES" sz="1900" dirty="0"/>
              <a:t>Gráfico de valores ordenados</a:t>
            </a:r>
          </a:p>
          <a:p>
            <a:r>
              <a:rPr lang="es-ES" sz="1900" dirty="0"/>
              <a:t>Histograma con resultado</a:t>
            </a:r>
          </a:p>
          <a:p>
            <a:endParaRPr lang="es-ES" sz="1900" dirty="0"/>
          </a:p>
          <a:p>
            <a:endParaRPr lang="es-ES" sz="19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15344EE-DBFD-C474-7091-26578B5945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01" r="1988"/>
          <a:stretch>
            <a:fillRect/>
          </a:stretch>
        </p:blipFill>
        <p:spPr>
          <a:xfrm>
            <a:off x="958849" y="3429000"/>
            <a:ext cx="4396153" cy="263030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6DCCD57-500C-B728-C523-EE9EFDAA4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479" y="1966684"/>
            <a:ext cx="5772745" cy="4092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097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C200C8-4281-E1EF-9767-21BE47920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9D9F46-CEBF-D363-CD75-841896040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850" y="361950"/>
            <a:ext cx="9601200" cy="774700"/>
          </a:xfrm>
        </p:spPr>
        <p:txBody>
          <a:bodyPr/>
          <a:lstStyle/>
          <a:p>
            <a:r>
              <a:rPr lang="es-ES" dirty="0"/>
              <a:t>Análisis exploratorio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8EEAA0C-8F85-02D8-5A53-685BA0D47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0595" y="6446000"/>
            <a:ext cx="1596292" cy="404614"/>
          </a:xfrm>
        </p:spPr>
        <p:txBody>
          <a:bodyPr/>
          <a:lstStyle/>
          <a:p>
            <a:fld id="{69E57DC2-970A-4B3E-BB1C-7A09969E49DF}" type="slidenum">
              <a:rPr lang="en-US" smtClean="0"/>
              <a:t>5</a:t>
            </a:fld>
            <a:endParaRPr lang="en-US" dirty="0"/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2DE12876-61BE-955C-7EA2-BDD9411BD6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8849" y="1349821"/>
            <a:ext cx="9471746" cy="5146229"/>
          </a:xfrm>
        </p:spPr>
        <p:txBody>
          <a:bodyPr>
            <a:normAutofit/>
          </a:bodyPr>
          <a:lstStyle/>
          <a:p>
            <a:r>
              <a:rPr lang="es-ES" dirty="0"/>
              <a:t>ADR (precio por noche) por tipo de hotel</a:t>
            </a:r>
          </a:p>
          <a:p>
            <a:r>
              <a:rPr lang="es-ES" sz="1900" dirty="0"/>
              <a:t>Histograma</a:t>
            </a:r>
          </a:p>
          <a:p>
            <a:r>
              <a:rPr lang="es-ES" sz="1900" dirty="0" err="1"/>
              <a:t>Violin</a:t>
            </a:r>
            <a:r>
              <a:rPr lang="es-ES" sz="1900" dirty="0"/>
              <a:t> </a:t>
            </a:r>
            <a:r>
              <a:rPr lang="es-ES" sz="1900" dirty="0" err="1"/>
              <a:t>plot</a:t>
            </a:r>
            <a:endParaRPr lang="es-ES" sz="1900" dirty="0"/>
          </a:p>
          <a:p>
            <a:endParaRPr lang="es-ES" sz="1900" dirty="0"/>
          </a:p>
          <a:p>
            <a:endParaRPr lang="es-ES" sz="19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CDF06E1-A5BB-67F2-6CDB-52D7751CD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849" y="2786393"/>
            <a:ext cx="4629801" cy="327290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6527F51-E1E6-575D-7E6B-6B3DA4032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721" y="2264972"/>
            <a:ext cx="5249473" cy="3794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048009"/>
      </p:ext>
    </p:extLst>
  </p:cSld>
  <p:clrMapOvr>
    <a:masterClrMapping/>
  </p:clrMapOvr>
</p:sld>
</file>

<file path=ppt/theme/theme1.xml><?xml version="1.0" encoding="utf-8"?>
<a:theme xmlns:a="http://schemas.openxmlformats.org/drawingml/2006/main" name="Recorte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Recorte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cort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D7AA1D6E-F3E9-4763-A3BC-84DF2E02F60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TM10001105[[fn=Recorte]]</Template>
  <TotalTime>488</TotalTime>
  <Words>184</Words>
  <Application>Microsoft Office PowerPoint</Application>
  <PresentationFormat>Panorámica</PresentationFormat>
  <Paragraphs>35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Calibri</vt:lpstr>
      <vt:lpstr>Franklin Gothic Book</vt:lpstr>
      <vt:lpstr>Recorte</vt:lpstr>
      <vt:lpstr>Visualización de datos Pec 3 – NARRACIÓN DE HISTORIAS CON DATOS</vt:lpstr>
      <vt:lpstr>Descripción del conjunto de datos</vt:lpstr>
      <vt:lpstr>Análisis exploratorio</vt:lpstr>
      <vt:lpstr>Análisis exploratorio</vt:lpstr>
      <vt:lpstr>Análisis exploratorio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 Lobato</dc:creator>
  <cp:lastModifiedBy>Sara Lobato</cp:lastModifiedBy>
  <cp:revision>21</cp:revision>
  <dcterms:created xsi:type="dcterms:W3CDTF">2026-03-25T17:38:44Z</dcterms:created>
  <dcterms:modified xsi:type="dcterms:W3CDTF">2026-05-15T10:56:09Z</dcterms:modified>
</cp:coreProperties>
</file>